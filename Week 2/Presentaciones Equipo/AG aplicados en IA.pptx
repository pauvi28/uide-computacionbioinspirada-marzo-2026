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3200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Algoritmos Genéticos en</a:t>
            </a:r>
            <a:br/>
            <a:r>
              <a:t>Inteligencia Artificial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DEFB"/>
                </a:solidFill>
                <a:latin typeface="Calibri"/>
              </a:defRPr>
            </a:pPr>
            <a:r>
              <a:t>Aplicaciones Prácticas: Selección de Características en Machine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749039"/>
            <a:ext cx="3017520" cy="36576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2A4A"/>
                </a:solidFill>
                <a:latin typeface="Calibri"/>
              </a:defRPr>
            </a:pPr>
            <a:r>
              <a:t>GRUPO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Computación Bioinspirada — Maestría en IA Aplicada — 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Marzo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Grupo 8 | Computación Bioinspirada | UIDE | 2025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1280160"/>
            <a:ext cx="384048" cy="384048"/>
          </a:xfrm>
          <a:prstGeom prst="ellipse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29844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¿Qué es un Algoritmo Genético?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1755648"/>
            <a:ext cx="384048" cy="384048"/>
          </a:xfrm>
          <a:prstGeom prst="ellipse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773936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Analogía biológica y flujo del AG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2231136"/>
            <a:ext cx="384048" cy="384048"/>
          </a:xfrm>
          <a:prstGeom prst="ellipse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249424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El problema: Selección de Características en ML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2706624"/>
            <a:ext cx="384048" cy="384048"/>
          </a:xfrm>
          <a:prstGeom prst="ellipse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72491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Paper: Metodología RFIGA (dos etapas)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3182112"/>
            <a:ext cx="384048" cy="384048"/>
          </a:xfrm>
          <a:prstGeom prst="ellipse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0040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Etapa 1: Random Forest</a:t>
            </a:r>
          </a:p>
        </p:txBody>
      </p:sp>
      <p:sp>
        <p:nvSpPr>
          <p:cNvPr id="15" name="Oval 14"/>
          <p:cNvSpPr/>
          <p:nvPr/>
        </p:nvSpPr>
        <p:spPr>
          <a:xfrm>
            <a:off x="1097280" y="3657600"/>
            <a:ext cx="384048" cy="384048"/>
          </a:xfrm>
          <a:prstGeom prst="ellipse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67588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Etapa 2: Algoritmo Genético Mejorado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" y="4133088"/>
            <a:ext cx="384048" cy="384048"/>
          </a:xfrm>
          <a:prstGeom prst="ellipse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151376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Datasets y resultados experimentales</a:t>
            </a:r>
          </a:p>
        </p:txBody>
      </p:sp>
      <p:sp>
        <p:nvSpPr>
          <p:cNvPr id="19" name="Oval 18"/>
          <p:cNvSpPr/>
          <p:nvPr/>
        </p:nvSpPr>
        <p:spPr>
          <a:xfrm>
            <a:off x="1097280" y="4608576"/>
            <a:ext cx="384048" cy="384048"/>
          </a:xfrm>
          <a:prstGeom prst="ellipse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626864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Comparación con otros métodos</a:t>
            </a:r>
          </a:p>
        </p:txBody>
      </p:sp>
      <p:sp>
        <p:nvSpPr>
          <p:cNvPr id="21" name="Oval 20"/>
          <p:cNvSpPr/>
          <p:nvPr/>
        </p:nvSpPr>
        <p:spPr>
          <a:xfrm>
            <a:off x="1097280" y="5084064"/>
            <a:ext cx="384048" cy="384048"/>
          </a:xfrm>
          <a:prstGeom prst="ellipse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510235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Ventajas y limitaciones</a:t>
            </a:r>
          </a:p>
        </p:txBody>
      </p:sp>
      <p:sp>
        <p:nvSpPr>
          <p:cNvPr id="23" name="Oval 22"/>
          <p:cNvSpPr/>
          <p:nvPr/>
        </p:nvSpPr>
        <p:spPr>
          <a:xfrm>
            <a:off x="1097280" y="5559552"/>
            <a:ext cx="384048" cy="384048"/>
          </a:xfrm>
          <a:prstGeom prst="ellipse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57784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Conclusiones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¿Qué es un Algoritmo Genético (AG)?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Grupo 8 | Computación Bioinspirada | UIDE | 2025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11064240" cy="118872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B2A4A"/>
                </a:solidFill>
                <a:latin typeface="Calibri"/>
              </a:defRPr>
            </a:pPr>
            <a:r>
              <a:t>Es una técnica de optimización inspirada en la evolución natural de Darwin.</a:t>
            </a:r>
            <a:br/>
            <a:r>
              <a:t>Imita los procesos biológicos (selección, cruce, mutación) para encontrar</a:t>
            </a:r>
            <a:br/>
            <a:r>
              <a:t>soluciones óptimas a problemas complejos.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Calibri"/>
              </a:defRPr>
            </a:pPr>
            <a:r>
              <a:t>Características clave: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Trabaja con una POBLACIÓN de soluciones (no una sola)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Usa operadores inspirados en la genética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No requiere conocer la derivada de la función objetivo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Ideal para espacios de búsqueda grandes y complejos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Pertenece a la familia de metaheurísticas bioinspiradas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743200"/>
            <a:ext cx="5212080" cy="347472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880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5C8A"/>
                </a:solidFill>
                <a:latin typeface="Calibri"/>
              </a:defRPr>
            </a:pPr>
            <a:r>
              <a:t>Creador: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2004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John Holland (1975)</a:t>
            </a:r>
            <a:br/>
            <a:r>
              <a:t>"Adaptation in Natural and Artificial Systems"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5C8A"/>
                </a:solidFill>
                <a:latin typeface="Calibri"/>
              </a:defRPr>
            </a:pPr>
            <a:r>
              <a:t>Inspiración: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29768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Selección natural de Darwin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Genética de Mendel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Supervivencia del más apto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Analogía Biológica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Grupo 8 | Computación Bioinspirada | UIDE | 2025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4206240"/>
              </a:tblGrid>
              <a:tr h="5283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Biología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Algoritmo Genético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Ejemplo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Individuo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Solución candidata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[1,0,1,1,0,0,1]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Cromosoma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Representación codificada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Vector binario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Gen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Cada variable de la solución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Bit individual (0 ó 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Población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Conjunto de soluciones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100 vectores binarios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Aptitud (fitness)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Qué tan buena es la solución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Precisión del modelo: 95%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Selección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Elegir los mejores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Ruleta, torneo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Cruce (crossover)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Combinar dos soluciones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Intercambiar segmentos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Mutación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Cambio aleatorio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Invertir un bit: 0→1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Flujo Básico del Algoritmo Genético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Grupo 8 | Computación Bioinspirada | UIDE | 2025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011680"/>
            <a:ext cx="1783080" cy="18288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Paso 1</a:t>
            </a:r>
          </a:p>
          <a:p>
            <a:pPr algn="ctr">
              <a:spcBef>
                <a:spcPts val="10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Generar población
inicial (aleatoria)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67128" y="2743200"/>
            <a:ext cx="201168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331720" y="2011680"/>
            <a:ext cx="1783080" cy="1828800"/>
          </a:xfrm>
          <a:prstGeom prst="round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Paso 2</a:t>
            </a:r>
          </a:p>
          <a:p>
            <a:pPr algn="ctr">
              <a:spcBef>
                <a:spcPts val="10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Evaluar aptitud
(fitness)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33088" y="2743200"/>
            <a:ext cx="201168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97680" y="2011680"/>
            <a:ext cx="1783080" cy="1828800"/>
          </a:xfrm>
          <a:prstGeom prst="round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Paso 3</a:t>
            </a:r>
          </a:p>
          <a:p>
            <a:pPr algn="ctr">
              <a:spcBef>
                <a:spcPts val="10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Seleccionar los
mejores individuos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099048" y="2743200"/>
            <a:ext cx="201168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39" y="2011680"/>
            <a:ext cx="1783080" cy="18288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Paso 4</a:t>
            </a:r>
          </a:p>
          <a:p>
            <a:pPr algn="ctr">
              <a:spcBef>
                <a:spcPts val="10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Aplicar cruce
(crossover)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065007" y="2743200"/>
            <a:ext cx="201168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0" y="2011680"/>
            <a:ext cx="1783080" cy="18288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Paso 5</a:t>
            </a:r>
          </a:p>
          <a:p>
            <a:pPr algn="ctr">
              <a:spcBef>
                <a:spcPts val="10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Aplicar mutación
(probabilidad baja)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0030968" y="2743200"/>
            <a:ext cx="201168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195560" y="2011680"/>
            <a:ext cx="1783080" cy="18288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Paso 6</a:t>
            </a:r>
          </a:p>
          <a:p>
            <a:pPr algn="ctr">
              <a:spcBef>
                <a:spcPts val="10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¿Convergió?
Sí → FIN / No → Paso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4389120"/>
            <a:ext cx="9418320" cy="1371600"/>
          </a:xfrm>
          <a:prstGeom prst="roundRect">
            <a:avLst/>
          </a:prstGeom>
          <a:solidFill>
            <a:srgbClr val="FFF3CD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4480560"/>
            <a:ext cx="8961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Clave: El AG trabaja con POBLACIONES, no con un solo individuo.</a:t>
            </a:r>
            <a:br/>
            <a:r>
              <a:t>En cada generación, las soluciones "evolucionan" hacia mejores resultados.</a:t>
            </a:r>
            <a:br/>
            <a:r>
              <a:t>El cruce combina lo mejor de dos padres; la mutación introduce diversidad.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El Problema: Selección de Características en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Grupo 8 | Computación Bioinspirada | UIDE | 2025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94960" cy="256032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Calibri"/>
              </a:defRPr>
            </a:pPr>
            <a:r>
              <a:t>¿Qué 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Dado un dataset con muchas variables (ej: 1,203 columnas),</a:t>
            </a:r>
            <a:br/>
            <a:r>
              <a:t>encontrar el SUBCONJUNTO MÍNIMO que maximice</a:t>
            </a:r>
            <a:br/>
            <a:r>
              <a:t>la precisión del modelo de clasificación.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Ejemplo: De 1,000 variables médicas, tal vez</a:t>
            </a:r>
            <a:br/>
            <a:r>
              <a:t>solo 50 son realmente necesarias para el diagnóstico.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486400" cy="2560320"/>
          </a:xfrm>
          <a:prstGeom prst="roundRect">
            <a:avLst/>
          </a:prstGeom>
          <a:solidFill>
            <a:srgbClr val="D4EDDA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5D27"/>
                </a:solidFill>
                <a:latin typeface="Calibri"/>
              </a:defRPr>
            </a:pPr>
            <a:r>
              <a:t>¿Por qué importa?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828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Reduce el sobreajuste (overfitting)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Mejora la precisión del modelo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Reduce el tiempo de entrenamiento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Modelos más interpretables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Calibri"/>
              </a:defRPr>
            </a:pPr>
            <a:r>
              <a:t>¿Por qué usar un Algoritmo Genético para esto?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663440"/>
            <a:ext cx="356616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709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0392B"/>
                </a:solidFill>
                <a:latin typeface="Calibri"/>
              </a:defRPr>
            </a:pPr>
            <a:r>
              <a:t>Métodos de Filtro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749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Ej: Correlación</a:t>
            </a:r>
            <a:br/>
            <a:r>
              <a:t>Rápidos pero ignoran</a:t>
            </a:r>
            <a:br/>
            <a:r>
              <a:t>dependencias entre variables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4663440"/>
            <a:ext cx="356616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709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0392B"/>
                </a:solidFill>
                <a:latin typeface="Calibri"/>
              </a:defRPr>
            </a:pPr>
            <a:r>
              <a:t>Métodos Wrapper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0749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Ej: RFE (eliminación recursiva)</a:t>
            </a:r>
            <a:br/>
            <a:r>
              <a:t>Precisos pero</a:t>
            </a:r>
            <a:br/>
            <a:r>
              <a:t>MUY lentos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4663440"/>
            <a:ext cx="356616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4709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7AE60"/>
                </a:solidFill>
                <a:latin typeface="Calibri"/>
              </a:defRPr>
            </a:pPr>
            <a:r>
              <a:t>Algoritmo Genético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50749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Exploración GLOBAL del espacio</a:t>
            </a:r>
            <a:br/>
            <a:r>
              <a:t>de combinaciones sin quedarse</a:t>
            </a:r>
            <a:br/>
            <a:r>
              <a:t>en óptimos locales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Paper: Metodología RFIGA (Dos Etapas)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Grupo 8 | Computación Bioinspirada | UIDE | 2025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9144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Ding, J. et al. "A novel two-stage feature selection method based on random forest</a:t>
            </a:r>
            <a:br/>
            <a:r>
              <a:t>and improved genetic algorithm" — Scientific Reports 15, 16828 (2025) — Nature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77440"/>
            <a:ext cx="5029200" cy="365760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Calibri"/>
              </a:defRPr>
            </a:pPr>
            <a:r>
              <a:t>ETAPA 1: Random Forest (Filtro Rápido)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4480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Entrena bosque aleatorio (200 árboles)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Calcula Importancia de Variable (VIM) con índice Gini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Ranquea variables por importancia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Elimina las de menor importancia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Resultado: reduce de 1,203 a ~100 variables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669280" y="3840480"/>
            <a:ext cx="822960" cy="457200"/>
          </a:xfrm>
          <a:prstGeom prst="rightArrow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0" y="2377440"/>
            <a:ext cx="5029200" cy="3657600"/>
          </a:xfrm>
          <a:prstGeom prst="roundRect">
            <a:avLst/>
          </a:prstGeom>
          <a:solidFill>
            <a:srgbClr val="D4EDDA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5D27"/>
                </a:solidFill>
                <a:latin typeface="Calibri"/>
              </a:defRPr>
            </a:pPr>
            <a:r>
              <a:t>ETAPA 2: AG Mejorado (IGA)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017520"/>
            <a:ext cx="4480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Codificación binaria: [1,0,1,1,0...]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Fitness multi-objetivo: precisión + pocas variables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Probabilidades adaptativas de cruce/mutación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Estrategia elitista μ+λ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Resultado: subconjunto óptimo final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Etapa 1: Random Forest — Filtro Rápido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Grupo 8 | Computación Bioinspirada | UIDE |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Calibri"/>
              </a:defRPr>
            </a:pPr>
            <a:r>
              <a:t>¿Cómo mide la importancia de cada variable?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486400" cy="201168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Índice Gini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Gini = 1 - Suma(pi²)</a:t>
            </a:r>
            <a:br/>
            <a:br/>
            <a:r>
              <a:t>Mide la "impureza" de un nodo del árbol.</a:t>
            </a:r>
            <a:br/>
            <a:r>
              <a:t>Si Gini = 0 → nodo puro (una sola clase).</a:t>
            </a:r>
            <a:br/>
            <a:r>
              <a:t>Si Gini alto → mezcla de clases.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486400" cy="201168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Variable Importance Measure (VIM)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8600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1. Calcular contribución en cada nodo</a:t>
            </a:r>
            <a:br/>
            <a:r>
              <a:t>2. Sumar por árbol</a:t>
            </a:r>
            <a:br/>
            <a:r>
              <a:t>3. Promediar en todo el bosque (200 árboles)</a:t>
            </a:r>
            <a:br/>
            <a:r>
              <a:t>4. Normalizar entre 0 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Calibri"/>
              </a:defRPr>
            </a:pPr>
            <a:r>
              <a:t>Ventajas de usar Random Forest como primer filtro: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Robusto contra outliers:</a:t>
            </a:r>
            <a:r>
              <a:rPr sz="1600" b="0">
                <a:solidFill>
                  <a:srgbClr val="333333"/>
                </a:solidFill>
                <a:latin typeface="Calibri"/>
              </a:rPr>
              <a:t> los árboles individuales son resistentes a datos atípicos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Rápido:</a:t>
            </a:r>
            <a:r>
              <a:rPr sz="1600" b="0">
                <a:solidFill>
                  <a:srgbClr val="333333"/>
                </a:solidFill>
                <a:latin typeface="Calibri"/>
              </a:rPr>
              <a:t> complejidad O(T·m·n·d·log n) — mucho menor que evaluar 2^N subconjuntos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Reduce drásticamente la dimensionalidad:</a:t>
            </a:r>
            <a:r>
              <a:rPr sz="1600" b="0">
                <a:solidFill>
                  <a:srgbClr val="333333"/>
                </a:solidFill>
                <a:latin typeface="Calibri"/>
              </a:rPr>
              <a:t> de miles a cientos de variables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No requiere supuestos sobre la distribución de los datos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Etapa 2: Algoritmo Genético Mejorado (IGA)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Grupo 8 | Computación Bioinspirada | UIDE |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Calibri"/>
              </a:defRPr>
            </a:pPr>
            <a:r>
              <a:t>Codificación binaria: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11247120" cy="9144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onsolas"/>
              </a:defRPr>
            </a:pPr>
            <a:r>
              <a:t>Cromosoma: [1, 0, 1, 1, 0, 0, 1, 0, 0, 1]  →  Usar variables 1, 3, 4, 7, 10  (5 de 10)</a:t>
            </a:r>
            <a:br/>
            <a:r>
              <a:t>    1 = variable seleccionada    |    0 = variable descartada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Calibri"/>
              </a:defRPr>
            </a:pPr>
            <a:r>
              <a:t>3 Mejoras clave al AG estándar: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00400"/>
            <a:ext cx="3566160" cy="2743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5C8A"/>
                </a:solidFill>
                <a:latin typeface="Calibri"/>
              </a:defRPr>
            </a:pPr>
            <a:r>
              <a:t>Mejora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566160"/>
            <a:ext cx="3291840" cy="411480"/>
          </a:xfrm>
          <a:prstGeom prst="round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58444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Fitness Multi-objetivo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148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Fitness = α × Error + β × Núm_Variables</a:t>
            </a:r>
            <a:br/>
            <a:r>
              <a:t>Minimiza error Y número de variables</a:t>
            </a:r>
            <a:br/>
            <a:r>
              <a:t>simultáneamente.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200400"/>
            <a:ext cx="3566160" cy="2743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3246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Calibri"/>
              </a:defRPr>
            </a:pPr>
            <a:r>
              <a:t>Mejora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566160"/>
            <a:ext cx="3291840" cy="4114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358444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Probabilidades Adaptativas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1148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Pc y Pm se ajustan dinámicamente</a:t>
            </a:r>
            <a:br/>
            <a:r>
              <a:t>según diversidad de la población.</a:t>
            </a:r>
            <a:br/>
            <a:r>
              <a:t>Poca diversidad → más exploración.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200400"/>
            <a:ext cx="3566160" cy="2743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246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7E22"/>
                </a:solidFill>
                <a:latin typeface="Calibri"/>
              </a:defRPr>
            </a:pPr>
            <a:r>
              <a:t>Mejora 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3566160"/>
            <a:ext cx="3291840" cy="4114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358444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Estrategia Elitista μ+λ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1148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De μ padres genera λ hijos.</a:t>
            </a:r>
            <a:br/>
            <a:r>
              <a:t>Selecciona los mejores μ del total.</a:t>
            </a:r>
            <a:br/>
            <a:r>
              <a:t>Los mejores NUNCA se pierden.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Datasets Utilizados (Repositorio UCI)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Grupo 8 | Computación Bioinspirada | UIDE | 2025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371600"/>
                <a:gridCol w="1371600"/>
                <a:gridCol w="1097280"/>
                <a:gridCol w="484632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Muestras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Variables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Clases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Tipo de Problema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Glioma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839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Diagnóstico de tumores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Dermatología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366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Clasificación de enfermedades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Audiología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226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Diagnóstico auditivo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Movement Libras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360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Reconocimiento de gestos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Arritmia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452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279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Diagnóstico cardíaco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Darwin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174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451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Clasificación biológica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Period Changer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1,177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Datos astronómicos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Toxicity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171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1,203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Predicción de toxicidad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828800" y="5669280"/>
            <a:ext cx="8503920" cy="548640"/>
          </a:xfrm>
          <a:prstGeom prst="roundRect">
            <a:avLst/>
          </a:prstGeom>
          <a:solidFill>
            <a:srgbClr val="FFF3CD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571500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  <a:latin typeface="Calibri"/>
              </a:defRPr>
            </a:pPr>
            <a:r>
              <a:t>Rango: desde 23 hasta 1,203 variables — probando escalabilidad del método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Resultados: Precisión RFIGA vs Línea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Grupo 8 | Computación Bioinspirada | UIDE | 2025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10698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1828800"/>
                <a:gridCol w="1828800"/>
                <a:gridCol w="32004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Sin Selección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 RFIGA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Mejora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Variables Eliminadas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Glioma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87.13%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87.25%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+0.12%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83%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Dermatología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96.72%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98.90%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+2.18%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61%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Movement Libras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63.61%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69.00%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+5.39%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51%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Arritmia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68.36%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73.90%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+5.54%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Darwin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95.98%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98.14%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+2.16%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Period Changer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61.11%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83.00%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+21.89%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95%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Toxicity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53.27%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73.73%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+20.46%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94%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120640"/>
            <a:ext cx="5029200" cy="1188720"/>
          </a:xfrm>
          <a:prstGeom prst="roundRect">
            <a:avLst/>
          </a:prstGeom>
          <a:solidFill>
            <a:srgbClr val="D4EDDA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16636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55D27"/>
                </a:solidFill>
                <a:latin typeface="Calibri"/>
              </a:defRPr>
            </a:pPr>
            <a:r>
              <a:t>Period Changer:</a:t>
            </a:r>
            <a:br/>
            <a:r>
              <a:t>+21.89% precisión eliminando 95% de variables</a:t>
            </a:r>
            <a:br/>
            <a:br/>
            <a:r>
              <a:t>Toxicity:</a:t>
            </a:r>
            <a:br/>
            <a:r>
              <a:t>+20.46% precisión eliminando 94% de variables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5120640"/>
            <a:ext cx="5212080" cy="118872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516636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Calibri"/>
              </a:defRPr>
            </a:pPr>
            <a:r>
              <a:t>Mejor precisión en 7 de 8 datasets</a:t>
            </a:r>
            <a:br/>
            <a:r>
              <a:t>Consistente con 5 clasificadores:</a:t>
            </a:r>
            <a:br/>
            <a:r>
              <a:t>SVM, Ridge, Naive Bayes, KNN, Logistic Regression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Comparación con Otros Métodos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Grupo 8 | Computación Bioinspirada | UIDE | 2025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371600"/>
          <a:ext cx="94183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103120"/>
                <a:gridCol w="4114800"/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Método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vs RFIGA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Fisher 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Filtro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RFIGA superior en 7/8 datasets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RFE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Wrapper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RFIGA superior en 7/8 datasets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L2 (Ridge)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Embebido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RFIGA superior en 7/8 datasets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PSO (Partículas)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Swarm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RFIGA superior en 7/8 datasets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WOA (Ballenas)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Swarm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RFIGA superior en 7/8 datasets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GWO (Lobos Grises)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Swarm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RFIGA superior en 7/8 datasets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DE (Evol. Diferencial)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Evolutivo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RFIGA superior en 7/8 datasets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371600" y="5120640"/>
            <a:ext cx="9418320" cy="1097280"/>
          </a:xfrm>
          <a:prstGeom prst="roundRect">
            <a:avLst/>
          </a:prstGeom>
          <a:solidFill>
            <a:srgbClr val="D4EDDA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5212080"/>
            <a:ext cx="8869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55D27"/>
                </a:solidFill>
                <a:latin typeface="Calibri"/>
              </a:defRPr>
            </a:pPr>
            <a:r>
              <a:t>RFIGA supera tanto a métodos clásicos (Fisher, RFE, Ridge) como a</a:t>
            </a:r>
            <a:br/>
            <a:r>
              <a:t>algoritmos bioinspirados (PSO, WOA, GWO, DE) gracias a la sinergia</a:t>
            </a:r>
            <a:br/>
            <a:r>
              <a:t>entre el filtrado rápido de Random Forest y la búsqueda global del AG mejorado.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Ventajas y Limitaciones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Grupo 8 | Computación Bioinspirada | UIDE | 2025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486400" cy="4754880"/>
          </a:xfrm>
          <a:prstGeom prst="roundRect">
            <a:avLst/>
          </a:prstGeom>
          <a:solidFill>
            <a:srgbClr val="D4EDDA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7AE60"/>
                </a:solidFill>
                <a:latin typeface="Calibri"/>
              </a:defRPr>
            </a:pPr>
            <a:r>
              <a:t>Ventajas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Búsqueda global:</a:t>
            </a:r>
            <a:r>
              <a:rPr sz="1500" b="0">
                <a:solidFill>
                  <a:srgbClr val="333333"/>
                </a:solidFill>
                <a:latin typeface="Calibri"/>
              </a:rPr>
              <a:t> no se queda atrapado en óptimos locales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Multi-objetivo:</a:t>
            </a:r>
            <a:r>
              <a:rPr sz="1500" b="0">
                <a:solidFill>
                  <a:srgbClr val="333333"/>
                </a:solidFill>
                <a:latin typeface="Calibri"/>
              </a:rPr>
              <a:t> balancea precisión Y simplicidad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Adaptativo:</a:t>
            </a:r>
            <a:r>
              <a:rPr sz="1500" b="0">
                <a:solidFill>
                  <a:srgbClr val="333333"/>
                </a:solidFill>
                <a:latin typeface="Calibri"/>
              </a:rPr>
              <a:t> cruce/mutación se ajustan según diversidad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Elitismo μ+λ:</a:t>
            </a:r>
            <a:r>
              <a:rPr sz="1500" b="0">
                <a:solidFill>
                  <a:srgbClr val="333333"/>
                </a:solidFill>
                <a:latin typeface="Calibri"/>
              </a:rPr>
              <a:t> los mejores nunca se pierden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RF elimina el ruido rápidamente (de 1,203 a ~100 variables)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AG busca el subconjunto óptimo en espacio reducido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Sinergia:</a:t>
            </a:r>
            <a:r>
              <a:rPr sz="1500" b="0">
                <a:solidFill>
                  <a:srgbClr val="333333"/>
                </a:solidFill>
                <a:latin typeface="Calibri"/>
              </a:rPr>
              <a:t> RF rápido + AG preciso = mejor combinación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486400" cy="4754880"/>
          </a:xfrm>
          <a:prstGeom prst="roundRect">
            <a:avLst/>
          </a:prstGeom>
          <a:solidFill>
            <a:srgbClr val="FCE4E4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0392B"/>
                </a:solidFill>
                <a:latin typeface="Calibri"/>
              </a:defRPr>
            </a:pPr>
            <a:r>
              <a:t>Limitaciones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2024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Complejidad computacional alta para datasets con decenas de miles de variables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Los autores sugieren GPU para escalar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El ajuste de α y β en la función de fitness requiere experimentación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No probado en datasets con &gt;10,000 variables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Grupo 8 | Computación Bioinspirada | UIDE | 2025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02920" cy="502920"/>
          </a:xfrm>
          <a:prstGeom prst="round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234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Calibri"/>
              </a:defRPr>
            </a:pPr>
            <a:r>
              <a:t>Problemas combinatorios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600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Los AG resuelven problemas donde los métodos exactos son inviables.</a:t>
            </a:r>
            <a:br/>
            <a:r>
              <a:t>Seleccionar el mejor subconjunto de N variables tiene 2^N combinaciones posibles.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502920" cy="502920"/>
          </a:xfrm>
          <a:prstGeom prst="round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514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Calibri"/>
              </a:defRPr>
            </a:pPr>
            <a:r>
              <a:t>Integración con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8803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Los AG se integran naturalmente con Machine Learning</a:t>
            </a:r>
            <a:br/>
            <a:r>
              <a:t>como paso de preprocesamiento en el pipeline de datos.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40480"/>
            <a:ext cx="502920" cy="502920"/>
          </a:xfrm>
          <a:prstGeom prst="round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794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Calibri"/>
              </a:defRPr>
            </a:pPr>
            <a:r>
              <a:t>Superan a otros metaheurísticos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160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Con mecanismos adaptativos y elitismo, RFIGA supera a PSO, DE, GWO</a:t>
            </a:r>
            <a:br/>
            <a:r>
              <a:t>en 7 de 8 datasets evaluados.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120639"/>
            <a:ext cx="502920" cy="502920"/>
          </a:xfrm>
          <a:prstGeom prst="round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07491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Calibri"/>
              </a:defRPr>
            </a:pPr>
            <a:r>
              <a:t>Aplicación real en salud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440679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Mejorar diagnósticos médicos eliminando variables irrelevantes.</a:t>
            </a:r>
            <a:br/>
            <a:r>
              <a:t>Impacto directo: modelos más precisos y más interpretables.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2191695" cy="3200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"La inspiración biológica sigue siendo</a:t>
            </a:r>
            <a:br/>
            <a:r>
              <a:t>relevante y competitiva en la era del Deep Learning"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DEFB"/>
                </a:solidFill>
                <a:latin typeface="Calibri"/>
              </a:defRPr>
            </a:pPr>
            <a:r>
              <a:t>Especialmente para problemas de optimización combinatoria en IA,</a:t>
            </a:r>
            <a:br/>
            <a:r>
              <a:t>donde el espacio de búsqueda es demasiado grande para métodos exactos.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2A4A"/>
                </a:solidFill>
                <a:latin typeface="Calibri"/>
              </a:defRPr>
            </a:pPr>
            <a:r>
              <a:t>Referencia: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Ding, J., Du, J., Wang, H. et al. "A novel two-stage feature selection method based on</a:t>
            </a:r>
            <a:br/>
            <a:r>
              <a:t>random forest and improved genetic algorithm for enhancing classification in ML."</a:t>
            </a:r>
            <a:br/>
            <a:r>
              <a:t>Scientific Reports 15, 16828 (2025). Nature.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B2A4A"/>
                </a:solidFill>
                <a:latin typeface="Calibri"/>
              </a:defRPr>
            </a:pPr>
            <a:r>
              <a:t>Gracias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